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71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883C6-2CA0-472B-AA81-5925A4E124CD}" v="11" dt="2026-04-24T02:21:39.977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5" d="100"/>
          <a:sy n="105" d="100"/>
        </p:scale>
        <p:origin x="9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edanisha5@gmail.com" userId="df4a373c2496fb67" providerId="LiveId" clId="{CFBEF32C-87B3-427A-8C30-504ACEE9A514}"/>
    <pc:docChg chg="undo custSel modSld">
      <pc:chgData name="sazedanisha5@gmail.com" userId="df4a373c2496fb67" providerId="LiveId" clId="{CFBEF32C-87B3-427A-8C30-504ACEE9A514}" dt="2026-04-24T02:21:39.975" v="83"/>
      <pc:docMkLst>
        <pc:docMk/>
      </pc:docMkLst>
      <pc:sldChg chg="modSp mod">
        <pc:chgData name="sazedanisha5@gmail.com" userId="df4a373c2496fb67" providerId="LiveId" clId="{CFBEF32C-87B3-427A-8C30-504ACEE9A514}" dt="2026-04-24T01:33:24.065" v="79"/>
        <pc:sldMkLst>
          <pc:docMk/>
          <pc:sldMk cId="0" sldId="258"/>
        </pc:sldMkLst>
        <pc:spChg chg="mod">
          <ac:chgData name="sazedanisha5@gmail.com" userId="df4a373c2496fb67" providerId="LiveId" clId="{CFBEF32C-87B3-427A-8C30-504ACEE9A514}" dt="2026-04-24T01:17:19.149" v="1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zedanisha5@gmail.com" userId="df4a373c2496fb67" providerId="LiveId" clId="{CFBEF32C-87B3-427A-8C30-504ACEE9A514}" dt="2026-04-24T01:20:47.060" v="22" actId="1076"/>
          <ac:spMkLst>
            <pc:docMk/>
            <pc:sldMk cId="0" sldId="258"/>
            <ac:spMk id="13" creationId="{00000000-0000-0000-0000-000000000000}"/>
          </ac:spMkLst>
        </pc:spChg>
        <pc:graphicFrameChg chg="mod modGraphic">
          <ac:chgData name="sazedanisha5@gmail.com" userId="df4a373c2496fb67" providerId="LiveId" clId="{CFBEF32C-87B3-427A-8C30-504ACEE9A514}" dt="2026-04-24T01:33:24.065" v="79"/>
          <ac:graphicFrameMkLst>
            <pc:docMk/>
            <pc:sldMk cId="0" sldId="258"/>
            <ac:graphicFrameMk id="14" creationId="{00000000-0000-0000-0000-000000000000}"/>
          </ac:graphicFrameMkLst>
        </pc:graphicFrameChg>
      </pc:sldChg>
      <pc:sldChg chg="setBg">
        <pc:chgData name="sazedanisha5@gmail.com" userId="df4a373c2496fb67" providerId="LiveId" clId="{CFBEF32C-87B3-427A-8C30-504ACEE9A514}" dt="2026-04-24T02:21:39.975" v="83"/>
        <pc:sldMkLst>
          <pc:docMk/>
          <pc:sldMk cId="178355008" sldId="2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Heart Disease Dataset (1025 Samples)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196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B9-4D6C-962C-698A61CB3B95}"/>
              </c:ext>
            </c:extLst>
          </c:dPt>
          <c:dPt>
            <c:idx val="1"/>
            <c:invertIfNegative val="0"/>
            <c:bubble3D val="0"/>
            <c:spPr>
              <a:solidFill>
                <a:srgbClr val="E849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B9-4D6C-962C-698A61CB3B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Disease</c:v>
                </c:pt>
                <c:pt idx="1">
                  <c:v>Disease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499</c:v>
                </c:pt>
                <c:pt idx="1">
                  <c:v>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B9-4D6C-962C-698A61CB3B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3A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KNN</c:v>
                </c:pt>
                <c:pt idx="2">
                  <c:v>LightGBM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80.489999999999995</c:v>
                </c:pt>
                <c:pt idx="1">
                  <c:v>89.76</c:v>
                </c:pt>
                <c:pt idx="2">
                  <c:v>98.05</c:v>
                </c:pt>
                <c:pt idx="3">
                  <c:v>98.54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5-4278-A0F1-0E8D8C7924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19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KNN</c:v>
                </c:pt>
                <c:pt idx="2">
                  <c:v>LightGBM</c:v>
                </c:pt>
                <c:pt idx="3">
                  <c:v>Random 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76.92</c:v>
                </c:pt>
                <c:pt idx="1">
                  <c:v>88.68</c:v>
                </c:pt>
                <c:pt idx="2">
                  <c:v>99.01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F5-4278-A0F1-0E8D8C7924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KNN</c:v>
                </c:pt>
                <c:pt idx="2">
                  <c:v>LightGBM</c:v>
                </c:pt>
                <c:pt idx="3">
                  <c:v>Random Forest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87.38</c:v>
                </c:pt>
                <c:pt idx="1">
                  <c:v>91.26</c:v>
                </c:pt>
                <c:pt idx="2">
                  <c:v>97.08</c:v>
                </c:pt>
                <c:pt idx="3">
                  <c:v>97.68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F5-4278-A0F1-0E8D8C7924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60"/>
        </c:scaling>
        <c:delete val="0"/>
        <c:axPos val="l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ln w="3810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20%</c:v>
                </c:pt>
                <c:pt idx="1">
                  <c:v>30%</c:v>
                </c:pt>
                <c:pt idx="2">
                  <c:v>40%</c:v>
                </c:pt>
                <c:pt idx="3">
                  <c:v>50%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15-4A5F-BA9A-2A6B3C33E8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Test Size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6"/>
        </c:scaling>
        <c:delete val="0"/>
        <c:axPos val="l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1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196A6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E849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Techniques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196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SVM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22860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196A6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2286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196A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286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2860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196A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286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UCI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Sazeda Nisha (03CITM231044)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Anita (03CITM231025)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Fakiya Firdous (03CITM231018)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22776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Stutee Das (03CITM231052)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9664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Dipti Ranjan Sahoo (03CITM231017)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BAD"/>
                </a:solidFill>
              </a:rPr>
              <a:t>Dept. of B.Sc ITM  ·  Ajaya Binay Degree College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658368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144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Heart disease is the world's leading cause of death — ~17.9 million lives lost annually.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19072"/>
            <a:ext cx="54864" cy="658368"/>
          </a:xfrm>
          <a:prstGeom prst="rect">
            <a:avLst/>
          </a:prstGeom>
          <a:solidFill>
            <a:srgbClr val="E8495A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71907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76479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Traditional diagnosis heavily depends on expensive lab tests and specialist availability.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23744"/>
            <a:ext cx="54864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52374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56946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Cardiovascular disease is extremely difficult to detect early without clinical expertise.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28416"/>
            <a:ext cx="54864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32841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37413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2744"/>
                </a:solidFill>
              </a:rPr>
              <a:t>Machine learning bridges this gap — enabling fast, low-cost, data-driven screening.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413308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17880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UCI Heart Disease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960120"/>
          </a:xfrm>
          <a:prstGeom prst="rect">
            <a:avLst/>
          </a:prstGeom>
          <a:solidFill>
            <a:srgbClr val="1E3A6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</a:rPr>
              <a:t>1,025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</a:rPr>
              <a:t>Total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560320" cy="960120"/>
          </a:xfrm>
          <a:prstGeom prst="rect">
            <a:avLst/>
          </a:prstGeom>
          <a:solidFill>
            <a:srgbClr val="1E3A6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22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</a:rPr>
              <a:t>14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822960"/>
            <a:ext cx="2560320" cy="960120"/>
          </a:xfrm>
          <a:prstGeom prst="rect">
            <a:avLst/>
          </a:prstGeom>
          <a:solidFill>
            <a:srgbClr val="1E3A6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822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</a:rPr>
              <a:t>Target Classes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8059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E82"/>
                </a:solidFill>
              </a:rPr>
              <a:t>Key Features Used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630452"/>
              </p:ext>
            </p:extLst>
          </p:nvPr>
        </p:nvGraphicFramePr>
        <p:xfrm>
          <a:off x="443692" y="2119520"/>
          <a:ext cx="8073735" cy="284988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567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5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Numeric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Patient age in years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sex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Binary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Male / Female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chest_pain_type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Typical / Atypical / Non-anginal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resting_blood_pressure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mm Hg at 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cholesterol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Serum cholesterol mg/dL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max_heart_rate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Maximum heart rate achieved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oldpeak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ST depression induced by exercise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fasting_blood_sugar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Binary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Indicates if blood sugar level is high after fasting.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06344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ECG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Categorical </a:t>
                      </a:r>
                      <a:endParaRPr lang="en-US" sz="11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Measures the heart’s electrical activity at rest.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844202"/>
                  </a:ext>
                </a:extLst>
              </a:tr>
              <a:tr h="2570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Binary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1 = Disease · 0 = No Disease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Heart Disease Dataset Distribution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560320" cy="960120"/>
          </a:xfrm>
          <a:prstGeom prst="rect">
            <a:avLst/>
          </a:prstGeom>
          <a:solidFill>
            <a:srgbClr val="1E3A6E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1,025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Total Samples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2212848"/>
            <a:ext cx="2560320" cy="960120"/>
          </a:xfrm>
          <a:prstGeom prst="rect">
            <a:avLst/>
          </a:prstGeom>
          <a:solidFill>
            <a:srgbClr val="2196A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499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217920" y="27614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No Disease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419856"/>
            <a:ext cx="2560320" cy="960120"/>
          </a:xfrm>
          <a:prstGeom prst="rect">
            <a:avLst/>
          </a:prstGeom>
          <a:solidFill>
            <a:srgbClr val="E8495A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341985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526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217920" y="3968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Disease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4617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BAD"/>
                </a:solidFill>
              </a:rPr>
              <a:t>Dataset is nearly balanced — ideal for unbiased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41832"/>
            <a:ext cx="457200" cy="457200"/>
          </a:xfrm>
          <a:prstGeom prst="ellipse">
            <a:avLst/>
          </a:prstGeom>
          <a:solidFill>
            <a:srgbClr val="2196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399032"/>
            <a:ext cx="0" cy="338328"/>
          </a:xfrm>
          <a:prstGeom prst="line">
            <a:avLst/>
          </a:prstGeom>
          <a:noFill/>
          <a:ln w="19050">
            <a:solidFill>
              <a:srgbClr val="2196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05840" y="868680"/>
            <a:ext cx="7772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868680"/>
            <a:ext cx="45720" cy="71323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Load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17043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pd.read_csv('heart.csv')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D"/>
                </a:solidFill>
              </a:rPr>
              <a:t>1025 rows · 15 columns including target variable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457200" cy="457200"/>
          </a:xfrm>
          <a:prstGeom prst="ellipse">
            <a:avLst/>
          </a:prstGeom>
          <a:solidFill>
            <a:srgbClr val="2196A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2221992"/>
            <a:ext cx="0" cy="338328"/>
          </a:xfrm>
          <a:prstGeom prst="line">
            <a:avLst/>
          </a:prstGeom>
          <a:noFill/>
          <a:ln w="19050">
            <a:solidFill>
              <a:srgbClr val="2196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05840" y="1691640"/>
            <a:ext cx="7772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1691640"/>
            <a:ext cx="45720" cy="71323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Encoding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199339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pd.get_dummies(data, drop_first=True)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46120" y="1737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D"/>
                </a:solidFill>
              </a:rPr>
              <a:t>Converts categorical columns into binary dummy variables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87752"/>
            <a:ext cx="457200" cy="457200"/>
          </a:xfrm>
          <a:prstGeom prst="ellipse">
            <a:avLst/>
          </a:prstGeom>
          <a:solidFill>
            <a:srgbClr val="2196A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3044952"/>
            <a:ext cx="0" cy="338328"/>
          </a:xfrm>
          <a:prstGeom prst="line">
            <a:avLst/>
          </a:prstGeom>
          <a:noFill/>
          <a:ln w="19050">
            <a:solidFill>
              <a:srgbClr val="2196A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05840" y="2514600"/>
            <a:ext cx="7772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5840" y="2514600"/>
            <a:ext cx="45720" cy="71323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Feature / Target Split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281635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data.drop('target', axis=1)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46120" y="2560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D"/>
                </a:solidFill>
              </a:rPr>
              <a:t>Separates feature matrix from the label column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10712"/>
            <a:ext cx="457200" cy="457200"/>
          </a:xfrm>
          <a:prstGeom prst="ellipse">
            <a:avLst/>
          </a:prstGeom>
          <a:solidFill>
            <a:srgbClr val="2196A6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" y="3867912"/>
            <a:ext cx="0" cy="338328"/>
          </a:xfrm>
          <a:prstGeom prst="line">
            <a:avLst/>
          </a:prstGeom>
          <a:noFill/>
          <a:ln w="19050">
            <a:solidFill>
              <a:srgbClr val="2196A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5840" y="3337560"/>
            <a:ext cx="7772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5840" y="3337560"/>
            <a:ext cx="45720" cy="71323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3" name="Text 31"/>
          <p:cNvSpPr/>
          <p:nvPr/>
        </p:nvSpPr>
        <p:spPr>
          <a:xfrm>
            <a:off x="1115568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Train-Test Split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15568" y="363931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train_test_split(X, y, test_size=0.2)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D"/>
                </a:solidFill>
              </a:rPr>
              <a:t>80% training · 20% held-out test set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233672"/>
            <a:ext cx="457200" cy="457200"/>
          </a:xfrm>
          <a:prstGeom prst="ellipse">
            <a:avLst/>
          </a:prstGeom>
          <a:solidFill>
            <a:srgbClr val="2196A6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05840" y="4160520"/>
            <a:ext cx="77724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05840" y="4160520"/>
            <a:ext cx="45720" cy="71323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0" name="Text 38"/>
          <p:cNvSpPr/>
          <p:nvPr/>
        </p:nvSpPr>
        <p:spPr>
          <a:xfrm>
            <a:off x="1115568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Standard Scaling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15568" y="446227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StandardScaler().fit_transform(X_train)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46120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D"/>
                </a:solidFill>
              </a:rPr>
              <a:t>mean=0, std=1 — fit only on train to prevent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Support Vector Machine (SVM)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Finds the optimal hyperplane maximising margin between two classes.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Linear kernel used: SVC(kernel='linear') — best for linearly separable medical data.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Support vectors are critical boundary data points that define the decision margin.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Works well with high-dimensional, normalised feature spaces like scaled vitals.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Effective even on small datasets like UCI's 1025 records.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005840"/>
            <a:ext cx="2651760" cy="1005840"/>
          </a:xfrm>
          <a:prstGeom prst="rect">
            <a:avLst/>
          </a:prstGeom>
          <a:solidFill>
            <a:srgbClr val="1E3A6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80.49%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SVM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2651760" cy="1005840"/>
          </a:xfrm>
          <a:prstGeom prst="rect">
            <a:avLst/>
          </a:prstGeom>
          <a:solidFill>
            <a:srgbClr val="2196A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76.92%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12648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SVM 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474720"/>
            <a:ext cx="2651760" cy="100584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87.38%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SVM Recall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Random Forest Classifier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Builds 100 decision trees (n_estimators=100), each trained on random feature subsets.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Aggregates predictions by majority vote — significantly reduces overfitting vs a single tree.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Inherently handles non-linear feature relationships and complex interactions.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Provides feature importance scores — extremely useful for medical insight.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More robust to outliers in cholesterol and blood pressure readings.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005840"/>
            <a:ext cx="2651760" cy="100584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98.54%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RF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2651760" cy="1005840"/>
          </a:xfrm>
          <a:prstGeom prst="rect">
            <a:avLst/>
          </a:prstGeom>
          <a:solidFill>
            <a:srgbClr val="2196A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12648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RF 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474720"/>
            <a:ext cx="2651760" cy="100584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97.68%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RF Recall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LightGBM (Light Gradient Boosting Machine)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Builds multiple decision trees sequentially — each new tree corrects previous errors.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Uses the Gradient Boosting technique for iterative optimisation.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Leaf-wise tree growth makes it faster and more memory-efficient than traditional GBDT.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Final prediction is a weighted combination of all individual tree outputs.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005840"/>
            <a:ext cx="2651760" cy="1005840"/>
          </a:xfrm>
          <a:prstGeom prst="rect">
            <a:avLst/>
          </a:prstGeom>
          <a:solidFill>
            <a:srgbClr val="8E44AD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98.05%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LGBM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2651760" cy="1005840"/>
          </a:xfrm>
          <a:prstGeom prst="rect">
            <a:avLst/>
          </a:prstGeom>
          <a:solidFill>
            <a:srgbClr val="2196A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99.01%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12648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LGBM 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474720"/>
            <a:ext cx="2651760" cy="100584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97.08%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LGBM Recall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KNN (K-Nearest Neighbors)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Selects the K nearest data points (neighbours) from the training set.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Uses Euclidean distance to quantify similarity between feature vectors.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Assigns the class label based on majority voting among the K neighbours.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</a:rPr>
              <a:t>Simple, non-parametric — no explicit training phase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005840"/>
            <a:ext cx="2651760" cy="1005840"/>
          </a:xfrm>
          <a:prstGeom prst="rect">
            <a:avLst/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89.76%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KNN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2651760" cy="1005840"/>
          </a:xfrm>
          <a:prstGeom prst="rect">
            <a:avLst/>
          </a:prstGeom>
          <a:solidFill>
            <a:srgbClr val="2196A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88.68%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12648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KNN 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474720"/>
            <a:ext cx="2651760" cy="100584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91.26%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KNN Recall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Comparison &amp; Results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Accuracy vs Train-Test Split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6E"/>
                </a:solidFill>
              </a:rPr>
              <a:t>Split Summary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34440"/>
          <a:ext cx="2651760" cy="20116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Correct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99%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203/205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30%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99%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305/308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402/410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50%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97%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</a:rPr>
                        <a:t>498/513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03504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BAD"/>
                </a:solidFill>
              </a:rPr>
              <a:t>Higher accuracy at smaller test sizes is expected — more training data → better generalisation.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SVM vs Random Forest vs LightGBM vs KNN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2372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SVM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80.49%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76.92%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87.38%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Baseline — lower accuracy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KNN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89.76%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88.68%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91.26%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Moderate — no explicit training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LightGBM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98.05%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99.01%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97.08%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</a:rPr>
                        <a:t>Excellent — fast gradient boosting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5E34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5E34"/>
                          </a:solidFill>
                        </a:rPr>
                        <a:t>98.54%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5E34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5E34"/>
                          </a:solidFill>
                        </a:rPr>
                        <a:t>97.68%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5E34"/>
                          </a:solidFill>
                        </a:rPr>
                        <a:t>⭐ Best — ensemble stability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6E"/>
                </a:solidFill>
              </a:rPr>
              <a:t>Key Takeaway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744"/>
                </a:solidFill>
              </a:rPr>
              <a:t>Random Forest achieved the highest accuracy (98.54%) with perfect precision (100%), making it the best-performing model on this dataset. LightGBM is a close second with comparable metrics. SVM, while lower in accuracy, achieved the highest recall (87.38%) — useful for minimising false negatives in clinical screening.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8003B-0BB5-5CA4-26C3-ED25D7E8FDBE}"/>
              </a:ext>
            </a:extLst>
          </p:cNvPr>
          <p:cNvSpPr/>
          <p:nvPr/>
        </p:nvSpPr>
        <p:spPr>
          <a:xfrm>
            <a:off x="0" y="0"/>
            <a:ext cx="9144000" cy="6386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Matrix’s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EFF2D5-9A0E-7D46-E068-E95CCBEFFF48}"/>
              </a:ext>
            </a:extLst>
          </p:cNvPr>
          <p:cNvSpPr/>
          <p:nvPr/>
        </p:nvSpPr>
        <p:spPr>
          <a:xfrm>
            <a:off x="0" y="638629"/>
            <a:ext cx="9144000" cy="45048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52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Flask REST API Backend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2196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Input (Frontend / UI)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344168"/>
            <a:ext cx="0" cy="192024"/>
          </a:xfrm>
          <a:prstGeom prst="line">
            <a:avLst/>
          </a:prstGeom>
          <a:noFill/>
          <a:ln w="19050">
            <a:solidFill>
              <a:srgbClr val="7A8B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41732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D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1E3A6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361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 REST API Server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011680"/>
            <a:ext cx="0" cy="192024"/>
          </a:xfrm>
          <a:prstGeom prst="line">
            <a:avLst/>
          </a:prstGeom>
          <a:noFill/>
          <a:ln w="19050">
            <a:solidFill>
              <a:srgbClr val="7A8B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08483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D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03704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037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Preprocessing (Scaling)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2679192"/>
            <a:ext cx="0" cy="192024"/>
          </a:xfrm>
          <a:prstGeom prst="line">
            <a:avLst/>
          </a:prstGeom>
          <a:noFill/>
          <a:ln w="19050">
            <a:solidFill>
              <a:srgbClr val="7A8B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752344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D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E8495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712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Models — SVM &amp; Random Forest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3346704"/>
            <a:ext cx="0" cy="192024"/>
          </a:xfrm>
          <a:prstGeom prst="line">
            <a:avLst/>
          </a:prstGeom>
          <a:noFill/>
          <a:ln w="19050">
            <a:solidFill>
              <a:srgbClr val="7A8B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19856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D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38728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5387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Prediction + Probability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4014216"/>
            <a:ext cx="0" cy="192024"/>
          </a:xfrm>
          <a:prstGeom prst="line">
            <a:avLst/>
          </a:prstGeom>
          <a:noFill/>
          <a:ln w="19050">
            <a:solidFill>
              <a:srgbClr val="7A8B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08736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D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2062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 Response to User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6E"/>
                </a:solidFill>
              </a:rPr>
              <a:t>What the Backend Does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261872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2618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126187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Takes patient clinical data as input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947672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9476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PP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194767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Preprocesses data using StandardScaler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633472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26334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ML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263347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Runs SVM &amp; Random Forest inference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319272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3192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OUT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331927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Returns prediction result + probability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BAD"/>
                </a:solidFill>
              </a:rPr>
              <a:t>Key Tech: Flask · StandardScaler · joblib · JSON response format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7A4E68-FE30-51CC-923F-B3B0AB1CBFAE}"/>
              </a:ext>
            </a:extLst>
          </p:cNvPr>
          <p:cNvSpPr/>
          <p:nvPr/>
        </p:nvSpPr>
        <p:spPr>
          <a:xfrm>
            <a:off x="0" y="0"/>
            <a:ext cx="9144000" cy="7455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800" dirty="0">
                <a:solidFill>
                  <a:schemeClr val="bg1"/>
                </a:solidFill>
              </a:rPr>
              <a:t>User Interface Design</a:t>
            </a:r>
          </a:p>
        </p:txBody>
      </p:sp>
    </p:spTree>
    <p:extLst>
      <p:ext uri="{BB962C8B-B14F-4D97-AF65-F5344CB8AC3E}">
        <p14:creationId xmlns:p14="http://schemas.microsoft.com/office/powerpoint/2010/main" val="178355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85800"/>
          </a:xfrm>
          <a:prstGeom prst="rect">
            <a:avLst/>
          </a:prstGeom>
          <a:solidFill>
            <a:srgbClr val="EAF0FB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54864" cy="68580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4124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896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</a:rPr>
              <a:t>ML Effectiveness: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89611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Machine learning can effectively and reliably predict heart disease from clinical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64208"/>
            <a:ext cx="54864" cy="68580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66420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17190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</a:rPr>
              <a:t>Best Model: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71907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Random Forest achieved the highest accuracy (98.54%) and perfect precision (100%).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8412480" cy="685800"/>
          </a:xfrm>
          <a:prstGeom prst="rect">
            <a:avLst/>
          </a:prstGeom>
          <a:solidFill>
            <a:srgbClr val="EAF0FB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87168"/>
            <a:ext cx="54864" cy="68580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48716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" y="25420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</a:rPr>
              <a:t>SVM Insight: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254203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SVM delivered acceptable results but with lower overall accuracy than ensemble methods.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10128"/>
            <a:ext cx="54864" cy="68580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3101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" y="33649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</a:rPr>
              <a:t>Real-Time API: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36499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Flask REST API enables real-time prediction accessible via any web or mobile frontend.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EAF0FB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33088"/>
            <a:ext cx="54864" cy="68580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41330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2688" y="41879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</a:rPr>
              <a:t>Healthcare Impact: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418795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System can aid early detection of heart disease, especially in resource-limited settings.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196A6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548640"/>
            <a:ext cx="1097280" cy="1097280"/>
          </a:xfrm>
          <a:prstGeom prst="ellipse">
            <a:avLst/>
          </a:prstGeom>
          <a:solidFill>
            <a:srgbClr val="E8495A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</a:rPr>
              <a:t>♥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 for Your Attention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8C4E8"/>
                </a:solidFill>
              </a:rPr>
              <a:t>Heart Disease Prediction using Machine Learning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45920" y="3291840"/>
            <a:ext cx="3749040" cy="59436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291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Any Questions?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D"/>
                </a:solidFill>
              </a:rPr>
              <a:t>Dept. of B.Sc ITM  ·  Ajaya Binay Degree College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1067</Words>
  <Application>Microsoft Office PowerPoint</Application>
  <PresentationFormat>On-screen Show (16:9)</PresentationFormat>
  <Paragraphs>250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Using ML</dc:title>
  <dc:subject>PptxGenJS Presentation</dc:subject>
  <dc:creator>PptxGenJS</dc:creator>
  <cp:lastModifiedBy>sazedanisha5@gmail.com</cp:lastModifiedBy>
  <cp:revision>2</cp:revision>
  <dcterms:created xsi:type="dcterms:W3CDTF">2026-04-16T00:58:04Z</dcterms:created>
  <dcterms:modified xsi:type="dcterms:W3CDTF">2026-04-24T02:21:42Z</dcterms:modified>
</cp:coreProperties>
</file>